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Mistral AI 3.2 Small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2C39A"/>
                </a:solidFill>
              </a:rPr>
              <a:t>Architecture, Deployment &amp; Applications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9F9"/>
                </a:solidFill>
              </a:rPr>
              <a:t>Technical Consultation —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🏢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Mistral AI Overview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0" y="1691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5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🧠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21945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Language Models 101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8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⚡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097280" y="2743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Mistral 3.2 Small Deep Dive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858000" y="2788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12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29184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🤗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3291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Deployment via Hugging Face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858000" y="3337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8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💻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97280" y="38404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Local Deployment with Ollama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858000" y="3886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8 min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4389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🎯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43891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Model Variants &amp; Use Cases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858000" y="4434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10 min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49377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9377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🔧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097280" y="49377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Applications &amp; Examples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858000" y="4983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7 min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4864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5486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🆚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1097280" y="5486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Open vs Closed Models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6858000" y="55321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 min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Mistral AI?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7280"/>
                </a:solidFill>
              </a:rPr>
              <a:t>COMPANY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1800" dirty="0">
                <a:solidFill>
                  <a:srgbClr val="1A1A1A"/>
                </a:solidFill>
              </a:rPr>
              <a:t>• European AI company (Paris, founded 2023)</a:t>
            </a:r>
            <a:endParaRPr lang="en-US" sz="1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800" dirty="0">
                <a:solidFill>
                  <a:srgbClr val="1A1A1A"/>
                </a:solidFill>
              </a:rPr>
              <a:t>• Focus: Efficient, deployable LLMs</a:t>
            </a:r>
            <a:endParaRPr lang="en-US" sz="1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800" dirty="0">
                <a:solidFill>
                  <a:srgbClr val="1A1A1A"/>
                </a:solidFill>
              </a:rPr>
              <a:t>• Open-weights philosophy</a:t>
            </a:r>
            <a:endParaRPr lang="en-US" sz="18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1800" dirty="0">
                <a:solidFill>
                  <a:srgbClr val="1A1A1A"/>
                </a:solidFill>
              </a:rPr>
              <a:t>• Alternative to OpenAI/Anthropic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029200" y="1828800"/>
            <a:ext cx="3657600" cy="2743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7" name="Text 5"/>
          <p:cNvSpPr/>
          <p:nvPr/>
        </p:nvSpPr>
        <p:spPr>
          <a:xfrm>
            <a:off x="521208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Philosophy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212080" y="25603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000"/>
                </a:solidFill>
              </a:rPr>
              <a:t>Best performance per compute
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Not biggest, but most practical
</a:t>
            </a:r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Efficiency &gt; Scale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Mistral Matters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🔓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Open Weights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Full model transparency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No vendor lock-in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4846320" y="2103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🇪🇺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2743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European Alternative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846320" y="30632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Data sovereignty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GDPR compliance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3931920"/>
            <a:ext cx="3657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5" name="Shape 13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🚀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4846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Production-Ready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Optimized for deployment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Commercial licensing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0" y="3931920"/>
            <a:ext cx="3657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4206240"/>
            <a:ext cx="457200" cy="457200"/>
          </a:xfrm>
          <a:prstGeom prst="ellipse">
            <a:avLst/>
          </a:prstGeom>
          <a:solidFill>
            <a:srgbClr val="01403A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💰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846320" y="48463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1A"/>
                </a:solidFill>
              </a:rPr>
              <a:t>Cost-Effective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846320" y="51663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Run on modest hardware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Predictable costs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Language Model?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P(next token | previous tokens)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Predicts the next token based on learned probability distributions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05840" y="3566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Trained on massive text corpora to learn language patterns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Does not 'understand' or 'think' — generates based on statistical patterns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4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4846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</a:rPr>
              <a:t>Token: smallest unit (word, subword, or character)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Token Prediction Works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Example: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1188720" cy="54864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920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The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737360" y="1920240"/>
            <a:ext cx="1188720" cy="54864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920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cat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1920240"/>
            <a:ext cx="1188720" cy="54864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17520" y="1920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sat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920240"/>
            <a:ext cx="1188720" cy="54864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97680" y="1920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on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577840" y="1920240"/>
            <a:ext cx="1188720" cy="548640"/>
          </a:xfrm>
          <a:prstGeom prst="rect">
            <a:avLst/>
          </a:prstGeom>
          <a:solidFill>
            <a:srgbClr val="F7F9F9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1920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A1A"/>
                </a:solidFill>
              </a:rPr>
              <a:t>the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0" y="1920240"/>
            <a:ext cx="1188720" cy="548640"/>
          </a:xfrm>
          <a:prstGeom prst="rect">
            <a:avLst/>
          </a:prstGeom>
          <a:solidFill>
            <a:srgbClr val="02C39A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0" y="19202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___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57200" y="2926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Top Predictions: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828800" y="3383280"/>
            <a:ext cx="2688336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3832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mat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08576" y="3383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42%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828800" y="3840480"/>
            <a:ext cx="1792224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8404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floor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712464" y="38404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28%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4297680"/>
            <a:ext cx="9601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2976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chair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880360" y="42976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15%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1828800" y="4754880"/>
            <a:ext cx="64008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548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table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560320" y="47548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10%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828800" y="5212080"/>
            <a:ext cx="32004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21208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other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2240280" y="5212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5%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Architecture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The foundation of modern LLMs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2743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Input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71600" y="22402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Text → Tokens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0" y="2468880"/>
            <a:ext cx="0" cy="18288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1371600" y="2743200"/>
            <a:ext cx="2743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28346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Embedding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31546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Tokens → Vectors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3383280"/>
            <a:ext cx="0" cy="18288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371600" y="3657600"/>
            <a:ext cx="2743200" cy="64008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3749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Self-Attention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40690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Context weighting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0" y="4297680"/>
            <a:ext cx="0" cy="18288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572000"/>
            <a:ext cx="2743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1371600" y="46634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Feed-Forward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71600" y="4983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Transformation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0" y="5212080"/>
            <a:ext cx="0" cy="18288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1371600" y="5486400"/>
            <a:ext cx="2743200" cy="6400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5577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Output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71600" y="58978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FFFF"/>
                </a:solidFill>
              </a:rPr>
              <a:t>Probability distribution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0" y="2743200"/>
            <a:ext cx="4114800" cy="2743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2926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Self-Attention = Key Innovation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754880" y="33832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Determines which input tokens are most relevant for predicting the next token
</a:t>
            </a:r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Example: </a:t>
            </a:r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In 'The cat sat on the mat', predicting 'mat' requires attending to 'sat' and 'on', not just 'the'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'Small' Models Matter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Small vs Large Models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286000" cy="457200"/>
          </a:xfrm>
          <a:prstGeom prst="rect">
            <a:avLst/>
          </a:prstGeom>
          <a:solidFill>
            <a:srgbClr val="01403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011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0" y="2011680"/>
            <a:ext cx="27432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8346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7B Parameters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2011680"/>
            <a:ext cx="274320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175B Parameters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468880"/>
            <a:ext cx="2286000" cy="45720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Inference Speed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4688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Fast (&lt; 1s)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0" y="24688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Slow (2-10s)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2286000" cy="45720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9260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Hardware Req.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29260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16GB VRAM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0" y="29260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8x A100 GPUs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2286000" cy="45720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3832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Cost/1M tokens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0" y="33832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$0.10 - $0.50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0" y="33832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$10 - $60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840480"/>
            <a:ext cx="2286000" cy="45720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404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Latency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743200" y="38404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3464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Low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486400" y="38404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7784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High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2286000" cy="45720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2976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Deployment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743200" y="42976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83464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Edge/Local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5486400" y="42976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4297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Cloud only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4754880"/>
            <a:ext cx="2286000" cy="45720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4754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Privacy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743200" y="47548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83464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Full control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486400" y="4754880"/>
            <a:ext cx="27432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77840" y="4754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API dependency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⚡ Small models enable real-time, cost-effective AI at the edge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9/32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3.2 Small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</a:rPr>
              <a:t>Technical Specifications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🔢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Parameters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801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~7.3 Billion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0" y="182880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20574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2057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🏗️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19659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Architecture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2860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Decoder-only Transformer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📏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063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Context Length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32,768 tokens (32k)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572000" y="292608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1546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📚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4960" y="30632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Vocabulary Size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394960" y="33832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32,000 tokens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57200" y="402336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🪟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280160" y="4160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Attention Type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4480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Sliding Window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572000" y="402336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1" name="Shape 29"/>
          <p:cNvSpPr/>
          <p:nvPr/>
        </p:nvSpPr>
        <p:spPr>
          <a:xfrm>
            <a:off x="4754880" y="4251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📅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5394960" y="41605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Released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44805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November 2024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10/32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Sliding Window Attention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Mistral's key optimization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1097280"/>
          </a:xfrm>
          <a:prstGeom prst="rect">
            <a:avLst/>
          </a:prstGeom>
          <a:solidFill>
            <a:srgbClr val="FECAC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</a:rPr>
              <a:t>❌ Traditional Attention Problem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</a:rPr>
              <a:t>Every token attends to all previous tokens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</a:rPr>
              <a:t>→ O(n²) complexity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7F1D1D"/>
                </a:solidFill>
              </a:rPr>
              <a:t>→ Memory explosion at scale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1645920"/>
            <a:ext cx="4114800" cy="10972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7373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✅ Mistral's Solution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210312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64E3B"/>
                </a:solidFill>
              </a:rPr>
              <a:t>Each token attends only to previous 4,096 tokens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4E3B"/>
                </a:solidFill>
              </a:rPr>
              <a:t>→ Fixed memory footprint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064E3B"/>
                </a:solidFill>
              </a:rPr>
              <a:t>→ Maintains long-range understanding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Visual: Attention Window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57600"/>
            <a:ext cx="365760" cy="36576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3657600"/>
            <a:ext cx="365760" cy="36576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80160" y="3657600"/>
            <a:ext cx="365760" cy="36576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91640" y="3657600"/>
            <a:ext cx="365760" cy="36576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03120" y="3657600"/>
            <a:ext cx="365760" cy="36576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14600" y="3657600"/>
            <a:ext cx="365760" cy="36576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0" y="3657600"/>
            <a:ext cx="365760" cy="36576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37560" y="3657600"/>
            <a:ext cx="365760" cy="36576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49040" y="365760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60520" y="365760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65760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83480" y="365760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94960" y="365760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365760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365760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29400" y="3657600"/>
            <a:ext cx="36576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29400" y="3657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📍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629400" y="42062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8090"/>
                </a:solidFill>
              </a:rPr>
              <a:t>Current token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28090"/>
                </a:solidFill>
              </a:rPr>
              <a:t>Attention window →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Benefits: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5120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31520" y="5120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4x faster inference than full attention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457200" y="5486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1520" y="548640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Enables 32k context on consumer GPUs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57200" y="58521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31520" y="585216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Minimal quality degradation vs full attention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11/32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Grouped Query Attention (GQA)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Memory optimization technique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Standard Multi-Head Attention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3657600" cy="164592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194560"/>
            <a:ext cx="3291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Each head has its own: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Query matrix (Q)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Key matrix (K)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Value matrix (V)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Memory: High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Quality: Excellent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6459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Grouped Query Attention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0" y="2103120"/>
            <a:ext cx="4114800" cy="164592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194560"/>
            <a:ext cx="3749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Multiple heads share: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Same Key matrix (K)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Same Value matrix (V)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Individual Query (Q)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Memory: 50% reduction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Quality: Near-identical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4114800"/>
            <a:ext cx="8229600" cy="13716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2976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Real-World Impact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6634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Mistral 7B with GQA runs on 16GB GPU | Without GQA requires 32GB GPU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Enables deployment on consumer hardware (RTX 4090, M2 MacBooks)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12/32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&amp; Limitations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Strengths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Excellent reasoning for size class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14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Fast inference (10-50 tokens/sec)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26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Strong coding capabilities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337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3375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Multilingual (English, French, German, Spanish, Italian)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749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3749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Function calling support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160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•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Commercial-friendly license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463040"/>
            <a:ext cx="411480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⚠ Limitations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21031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•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Not state-of-the-art (loses to GPT-4, Claude)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2514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4632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Limited world knowledge vs larger models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2926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846320" y="2926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Occasional hallucinations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337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846320" y="33375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Weaker at complex creative writing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37490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846320" y="37490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Requires prompt engineering for best results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160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846320" y="41605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No vision capabilities (text-only)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303520"/>
            <a:ext cx="8229600" cy="82296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30352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🎯 Sweet Spot: Production workloads where speed, cost, and privacy matter more than absolute SOTA performance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13/32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Ecosystem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1828800" cy="1828800"/>
          </a:xfrm>
          <a:prstGeom prst="rect">
            <a:avLst/>
          </a:prstGeom>
          <a:solidFill>
            <a:srgbClr val="FFD21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dirty="0">
                <a:solidFill>
                  <a:srgbClr val="000000"/>
                </a:solidFill>
              </a:rPr>
              <a:t>🤗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2743200" y="16459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</a:rPr>
              <a:t>The GitHub for Machine Learning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0" y="21945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017520" y="219456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Model Hub: 500,000+ open models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743200" y="25603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017520" y="256032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Transformers library: Industry standard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926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017520" y="29260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Datasets: Pre-processed training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43200" y="32918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017520" y="329184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Spaces: Model demos &amp; apps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36576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017520" y="365760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</a:rPr>
              <a:t>Free GPU inference API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3840480"/>
            <a:ext cx="8229600" cy="210312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🔗 Mistral Models on Hugging Face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144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mistralai/Mistral-7B-v0.3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4572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Base model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4937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mistralai/Mistral-7B-Instruct-v0.3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0" y="49377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Chat/instruction following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5303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mistralai/Mistral-Embed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0" y="5303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Embedding model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669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mistralai/Mixtral-8x7B-Instruct-v0.1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0" y="5669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Mixture of Experts (larger)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14/32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Mistral via Transformers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transformers torch accelerate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Basic Usage: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651760"/>
            <a:ext cx="8229600" cy="3017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743200"/>
            <a:ext cx="786384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transformers import AutoModelForCausalLM, AutoTokenizer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model_id = "mistralai/Mistral-7B-Instruct-v0.3"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tokenizer = AutoTokenizer.from_pretrained(model_id)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AutoModelForCausalLM.from_pretrained(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device_map="auto",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torch_dtype="auto"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"Explain quantum computing in simple terms"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inputs = tokenizer(prompt, return_tensors="pt").to("cuda")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model.generate(**inputs, max_new_tokens=256)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print(tokenizer.decode(outputs[0], skip_special_tokens=True))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15/32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Hugging Face Inference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No local setup required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⚡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Serverless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No GPU management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64592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0" y="1874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🆓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394960" y="1828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Free Tier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Rate-limited but functional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🔄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2801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Automatic Scaling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Handles traffic spikes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2834640"/>
            <a:ext cx="3657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0" y="30632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🔐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539496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API Tokens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33375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Secure authentication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4206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Python Example: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13716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63440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requests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API_URL = "https://api-inference.huggingface.co/models/mistralai/Mistral-7B-Instruct-v0.3"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headers = {"Authorization": f"Bearer {API_TOKEN}"}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requests.post(API_URL, headers=headers, json={"inputs": "Explain AI"})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print(response.json())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16/32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Ollama?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Local LLM runtime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Run powerful language models locally with a single command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One-Command Setup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728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https://ollama.com/install.sh | sh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32004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212080" y="32004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Docker-Like UX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12080" y="3520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mistral → instant model download &amp; run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🔌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09728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REST API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9728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OpenAI-compatible HTTP interface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41148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🚀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212080" y="41148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GPU Acceleration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44348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Automatically detects CUDA/Metal/ROCm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5029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📚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109728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Model Library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097280" y="5349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100+ pre-configured models (Mistral, LLaMA, etc.)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0" y="50292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0" y="5029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💾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5212080" y="50292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Context Management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12080" y="53492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Persistent conversations with memory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17/32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Mistral with Ollama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97280" y="16459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Install Ollama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97280" y="1965960"/>
            <a:ext cx="7589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20116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https://ollama.com/install.sh | sh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or: brew install ollama (macOS)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7280" y="246888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One-line installer for Linux/macOS/Windows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Download Mistral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97280" y="3154680"/>
            <a:ext cx="7589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3200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pull mistral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97280" y="365760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Downloads ~4.1GB quantized model (GGUF format)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Run Interactive Chat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97280" y="4343400"/>
            <a:ext cx="7589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123444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run mistral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97280" y="484632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Starts local chat interface in terminal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21208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097280" y="5212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API Server (Production)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97280" y="5532120"/>
            <a:ext cx="758952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123444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 serve  # Runs on http://localhost:11434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97280" y="6035040"/>
            <a:ext cx="7589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Exposes REST API for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18/32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REST API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OpenAI-compatible interface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URL: http://localhost:11434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/api/generate - Single completion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8229600" cy="12801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688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http://localhost:11434/api/generate -d '{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"mistral",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"prompt": "Why is the sky blue?",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"stream": false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/api/chat - Conversation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4297680"/>
            <a:ext cx="8229600" cy="16459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389120"/>
            <a:ext cx="7863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http://localhost:11434/api/chat -d '{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"model": "mistral",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"messages": [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"system", "content": "You are a helpful assistant"},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{"role": "user", "content": "Explain transformers"}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"stream": false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}'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19/32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Ollama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463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✓ Ideal For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103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Privacy-sensitive applications (healthcare, legal, finance)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Offline/airgapped environments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17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Internal dev tools (code review, documentation)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Rapid prototyping without API costs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9319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Edge deployments (on-premise servers)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2960" y="4389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Educational/research purposes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0" y="1463040"/>
            <a:ext cx="4114800" cy="45720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4630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⚠ Not Ideal For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0" y="2103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✗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937760" y="2103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Production at scale (use hosted APIs)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2560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✗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937760" y="25603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Resource-constrained devices (&lt; 8GB RAM)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0" y="30175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✗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937760" y="30175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Absolute best quality needed (use GPT-4/Claude)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✗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93776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Multimodal tasks (vision, audio)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3931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✗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937760" y="39319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Guaranteed SLAs/uptime requirements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572000" y="43891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7280"/>
                </a:solidFill>
              </a:rPr>
              <a:t>✗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937760" y="4389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Zero-latency requirements (&lt; 100ms)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52120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💻 Minimum Hardware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31520" y="55778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CPU: 4+ cores | RAM: 8GB (16GB recommended) | GPU: Optional but 5-10x faster (NVIDIA/AMD/Apple Silicon)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20/32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Model Family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Official variants and their purposes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502920"/>
          </a:xfrm>
          <a:prstGeom prst="rect">
            <a:avLst/>
          </a:prstGeom>
          <a:solidFill>
            <a:srgbClr val="0140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645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Params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23360" y="16459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Primary Use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0" y="16459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80960" y="16459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HF ID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4884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Mistral 7B Base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2148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7.3B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023360" y="2148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Pre-training, fine-tuning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21488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Fast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680960" y="21488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Mistral-7B-v0.3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651760"/>
            <a:ext cx="8229600" cy="50292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Mistral 7B Instruct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51760" y="2651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7.3B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023360" y="265176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Chat, tasks, Q&amp;A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5176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Fast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680960" y="265176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Mistral-7B-Instruct-v0.3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15468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154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Mistral Embed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65176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7.3B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023360" y="315468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Embeddings, RAG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0" y="31546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Very Fast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31546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Mistral-Embed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657600"/>
            <a:ext cx="8229600" cy="50292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Mixtral 8x7B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651760" y="3657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46.7B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023360" y="36576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Complex reasoning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0" y="36576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Medium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365760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Mixtral-8x7B-Instruct-v0.1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</a:rPr>
              <a:t>Mixtral 8x22B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651760" y="41605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141B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023360" y="416052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SOTA performance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400800" y="41605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Slow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416052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Mixtral-8x22B-Instruct-v0.1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21/32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vs Instruct Models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Understanding the difference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384048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Mistral 7B Base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3774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Pure next-token prediction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788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27889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No instruction following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200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Raw pre-trained weights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611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36118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Requires fine-tuning for tasks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40233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Used for: Custom fine-tuning, research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64592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Mistral 7B Instruct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572000" y="2377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0" y="23774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Fine-tuned on instructions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0" y="2788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7889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Follows prompts reliably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0" y="32004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846320" y="32004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Safer, more aligned outputs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0" y="36118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46320" y="36118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Ready for production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023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846320" y="40233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Used for: Chatbots, agents, apps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Example Prompt: 'Summarize this article'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4937760"/>
            <a:ext cx="3840480" cy="822960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029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2400E"/>
                </a:solidFill>
              </a:rPr>
              <a:t>Base: Continues text → 'about technology and its impact on society...'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4937760"/>
            <a:ext cx="4114800" cy="82296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502920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F46"/>
                </a:solidFill>
              </a:rPr>
              <a:t>Instruct: Actual summary → 'The article discusses...'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22/32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Mistral-Instruct Deep Dive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Chat Template Format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8229600" cy="11887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9202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[INST] You are a helpful assistant [/INST]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[INST] Explain neural networks in 2 sentences [/INST]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Neural networks are computational models inspired by...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Key Capabilities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657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🔧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09728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Function Calling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977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JSON-formatted tool 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65760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💻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Code Generation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212080" y="3977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Python, JS, SQL, etc.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📋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09728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Structured Output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97280" y="4800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JSON, YAML, Markdown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448056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💬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21208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Multi-turn Chat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48006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Context retention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🛡️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109728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Safety Filtering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097280" y="56235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Reduced harmful outputs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0" y="53035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🌍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212080" y="5303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Multilingual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212080" y="562356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5 languages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23/32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Mistral-Embed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Embedding model for semantic search &amp; RAG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459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</a:rPr>
              <a:t>Embeddings = Dense vector representations of text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Similar meanings → Similar vectors (measured by cosine similarity)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Example: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"Dog"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2918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[0.23, -0.45, 0.67, ...]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0" y="3291840"/>
            <a:ext cx="137160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Similarity: 0.89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"Cat"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7033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[0.19, -0.41, 0.71, ...]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0" y="3703320"/>
            <a:ext cx="1371600" cy="2743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0" y="3703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65F46"/>
                </a:solidFill>
              </a:rPr>
              <a:t>Similarity: 0.89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"Car"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28800" y="41148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[-0.52, 0.33, -0.18, ...]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0" y="4114800"/>
            <a:ext cx="1371600" cy="2743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1B1B"/>
                </a:solidFill>
              </a:rPr>
              <a:t>Similarity: 0.12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Primary Use Cases: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57200" y="4937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9377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Semantic search (find similar documents)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52578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" y="52578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Retrieval-Augmented Generation (RAG)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5577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" y="5577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Clustering &amp; classification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58978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→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58978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Duplicate detection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486400" y="4572000"/>
            <a:ext cx="3200400" cy="146304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0" y="475488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Specifications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69280" y="5120640"/>
            <a:ext cx="2834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• Dim: 1024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• Max tokens: 8192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• Speed: 500 docs/sec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• HF: mistralai/Mistral-Embed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24/32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Mixtral: Mixture of Experts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Mistral's flagship model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 Experts × 7B Parameters = 46.7B Total (Only 12.9B active per token)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2560320" cy="73152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3375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Router Network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Selects top-2 experts per token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3566160"/>
            <a:ext cx="182880" cy="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200400" y="4114800"/>
            <a:ext cx="2560320" cy="73152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42519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Expert Processing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383280" y="45720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Only 2/8 experts activate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760720" y="4480560"/>
            <a:ext cx="182880" cy="0"/>
          </a:xfrm>
          <a:prstGeom prst="line">
            <a:avLst/>
          </a:prstGeom>
          <a:noFill/>
          <a:ln w="38100">
            <a:solidFill>
              <a:srgbClr val="01403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943600" y="5029200"/>
            <a:ext cx="2560320" cy="73152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5166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Result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26480" y="54864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GPT-3.5 quality at 5x lower cost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5943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Mixtral Variants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6309360"/>
            <a:ext cx="7955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Mixtral 8x7B: Standard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• Mixtral 8x22B: 141B params, SOTA performance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25/32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Downstream Tasks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What you can build with Mistral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3657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📊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Text Classification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0632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Sentiment analysis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3375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Topic classification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Intent detection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886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Spam filtering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828800"/>
            <a:ext cx="3657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4" name="Shape 12"/>
          <p:cNvSpPr/>
          <p:nvPr/>
        </p:nvSpPr>
        <p:spPr>
          <a:xfrm>
            <a:off x="4846320" y="21031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✍️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269748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Text Generation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846320" y="30632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Content creation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46320" y="33375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Code generation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46320" y="36118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Summarization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38862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Translation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3657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2062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❓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31520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Question Answering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31520" y="5166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Chatbots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5440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Customer support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31520" y="5715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Documentation Q&amp;A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989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RAG systems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3931920"/>
            <a:ext cx="3657600" cy="18288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846320" y="4206240"/>
            <a:ext cx="457200" cy="457200"/>
          </a:xfrm>
          <a:prstGeom prst="ellipse">
            <a:avLst/>
          </a:prstGeom>
          <a:solidFill>
            <a:srgbClr val="01403A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206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🔍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846320" y="4800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</a:rPr>
              <a:t>Information Extraction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846320" y="5166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Named entity recognition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846320" y="54406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Relation extraction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846320" y="5715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Data parsing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59893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• Form filling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26/32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(RAG)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Most common enterprise use case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6459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Document Ingestion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97280" y="189280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Chunk &amp; embed documents using Mistral-Embed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97280" y="23774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Vector Storage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262432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Store embeddings in Pinecone/Weaviate/ChromaDB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283464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Query Processing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97280" y="335584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Embed user question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5800" y="356616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57200" y="3840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97280" y="3840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Retrieval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97280" y="408736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Find top-K similar chunks (cosine similarity)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85800" y="429768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57200" y="45720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572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097280" y="45720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Augmentation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97280" y="481888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Inject retrieved context into prompt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5800" y="5029200"/>
            <a:ext cx="0" cy="228600"/>
          </a:xfrm>
          <a:prstGeom prst="line">
            <a:avLst/>
          </a:prstGeom>
          <a:noFill/>
          <a:ln w="2540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457200" y="53035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5303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097280" y="530352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Generation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5550408"/>
            <a:ext cx="7589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Mistral-Instruct generates answer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029200" y="1645920"/>
            <a:ext cx="3657600" cy="2743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5" name="Text 33"/>
          <p:cNvSpPr/>
          <p:nvPr/>
        </p:nvSpPr>
        <p:spPr>
          <a:xfrm>
            <a:off x="5212080" y="18288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Why RAG?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12080" y="22860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✓ Up-to-date information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12080" y="265176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✓ Reduce hallucinations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12080" y="30175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✓ Domain-specific knowledge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212080" y="33832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✓ Citation/source tracking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212080" y="37490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✓ No model fine-tuning needed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27/32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Application: Sentiment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Business Problem: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Analyze 10,000 customer reviews to identify satisfaction trends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840480" cy="201168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51460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91B1B"/>
                </a:solidFill>
              </a:rPr>
              <a:t>❌ Traditional ML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880360"/>
            <a:ext cx="3474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• Requires labeled training data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• Feature engineering needed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• Limited context understanding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• Misses sarcasm/nuance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F1D1D"/>
                </a:solidFill>
              </a:rPr>
              <a:t>• Needs model retraining for new domains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2377440"/>
            <a:ext cx="4114800" cy="201168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25146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F46"/>
                </a:solidFill>
              </a:rPr>
              <a:t>✅ Mistral-Instruct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54880" y="2880360"/>
            <a:ext cx="3749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64E3B"/>
                </a:solidFill>
              </a:rPr>
              <a:t>• Zero-shot classification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4E3B"/>
                </a:solidFill>
              </a:rPr>
              <a:t>• Understands context &amp; nuance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4E3B"/>
                </a:solidFill>
              </a:rPr>
              <a:t>• Handles sarcasm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4E3B"/>
                </a:solidFill>
              </a:rPr>
              <a:t>• Extracts specific complaints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64E3B"/>
                </a:solidFill>
              </a:rPr>
              <a:t>• Works across domains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</a:rPr>
              <a:t>Implementation: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5029200"/>
            <a:ext cx="8229600" cy="10972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120640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 = f"""Analyze sentiment: {review}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 JSON: {{"sentiment": "positive/negative/neutral", "confidence": 0-1, "key_issues": []}}"""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model.generate(prompt)  # Returns structured output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28/32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Analysis: Results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Sample Output: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</a:rPr>
              <a:t>"Product is okay but shipping was terrible"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0" y="2011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Negative (0.72)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77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 ["shipping delay"]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91440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108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</a:rPr>
              <a:t>"Absolutely love it! Best purchase ever!"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1089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Positive (0.95)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 []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062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F2937"/>
                </a:solidFill>
              </a:rPr>
              <a:t>"It works as expected, nothing special"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4206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</a:rPr>
              <a:t>Neutral (0.88)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45720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Issues: []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303520"/>
            <a:ext cx="8229600" cy="9144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440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</a:rPr>
              <a:t>📊 Performance Metrics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31520" y="58064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Accuracy: 87% | Speed: 15 reviews/sec | Cost: $0.30 per 10K reviews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29/32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vs Closed Source Models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2743200" cy="548640"/>
          </a:xfrm>
          <a:prstGeom prst="rect">
            <a:avLst/>
          </a:prstGeom>
          <a:solidFill>
            <a:srgbClr val="01403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Aspect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1645920"/>
            <a:ext cx="2743200" cy="548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3383280" y="16459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 (Mistral)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0" y="1645920"/>
            <a:ext cx="3200400" cy="5486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0" y="1645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Closed (GPT-4, Claude)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19456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Transparency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19456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21945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Full model weights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0" y="219456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26480" y="21945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✗ Black box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27432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Data Privacy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2743200"/>
            <a:ext cx="27432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27432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Runs locally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943600" y="2743200"/>
            <a:ext cx="32004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7432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✗ API sends data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Customization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29184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Fine-tune freely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943600" y="329184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2918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✗ Limited/expensive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840480"/>
            <a:ext cx="27432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Cost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0" y="3840480"/>
            <a:ext cx="27432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3840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Predictable (compute)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943600" y="3840480"/>
            <a:ext cx="32004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26480" y="384048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✗ Per-token pricing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38912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4389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Quality (SOTA)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0" y="438912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83280" y="438912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~ Close but not best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5943600" y="438912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43891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GPT-4, Claude lead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4937760"/>
            <a:ext cx="27432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4937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Ease of Use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00400" y="4937760"/>
            <a:ext cx="27432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83280" y="493776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~ Setup required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943600" y="4937760"/>
            <a:ext cx="3200400" cy="548640"/>
          </a:xfrm>
          <a:prstGeom prst="rect">
            <a:avLst/>
          </a:prstGeom>
          <a:solidFill>
            <a:srgbClr val="F7F9F9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26480" y="4937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API call ready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457200" y="548640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5486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Vendor Lock-in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3200400" y="5486400"/>
            <a:ext cx="27432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383280" y="548640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✓ None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5943600" y="5486400"/>
            <a:ext cx="3200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126480" y="548640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✗ Dependent on provider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30/32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Framework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When to choose Mistral vs alternatives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4114800" cy="457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Do you need absolute SOTA quality?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645920"/>
            <a:ext cx="1828800" cy="45720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1645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Yes → GPT-4 / Claude Opus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583680" y="1645920"/>
            <a:ext cx="2103120" cy="45720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 → Continue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286000"/>
            <a:ext cx="4114800" cy="457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2860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Is data privacy critical?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286000"/>
            <a:ext cx="1828800" cy="45720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22860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Yes → Mistral (local)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0" y="2286000"/>
            <a:ext cx="2103120" cy="45720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16" name="Text 14"/>
          <p:cNvSpPr/>
          <p:nvPr/>
        </p:nvSpPr>
        <p:spPr>
          <a:xfrm>
            <a:off x="6675120" y="22860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 → Continue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4114800" cy="457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92608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Need multimodal (vision/audio)?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2926080"/>
            <a:ext cx="1828800" cy="45720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29260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Yes → GPT-4V / Gemini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583680" y="2926080"/>
            <a:ext cx="2103120" cy="45720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22" name="Text 20"/>
          <p:cNvSpPr/>
          <p:nvPr/>
        </p:nvSpPr>
        <p:spPr>
          <a:xfrm>
            <a:off x="6675120" y="29260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 → Continue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4114800" cy="457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661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Budget &lt; $1000/month?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3566160"/>
            <a:ext cx="1828800" cy="45720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5661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Yes → Mistral (self-host)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83680" y="3566160"/>
            <a:ext cx="2103120" cy="457200"/>
          </a:xfrm>
          <a:prstGeom prst="rect">
            <a:avLst/>
          </a:prstGeom>
          <a:solidFill>
            <a:srgbClr val="FDE047"/>
          </a:solidFill>
          <a:ln/>
        </p:spPr>
      </p:sp>
      <p:sp>
        <p:nvSpPr>
          <p:cNvPr id="28" name="Text 26"/>
          <p:cNvSpPr/>
          <p:nvPr/>
        </p:nvSpPr>
        <p:spPr>
          <a:xfrm>
            <a:off x="6675120" y="35661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 → Continue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4114800" cy="457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0624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</a:rPr>
              <a:t>Need real-time (&lt; 100ms)?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0" y="4206240"/>
            <a:ext cx="1828800" cy="457200"/>
          </a:xfrm>
          <a:prstGeom prst="rect">
            <a:avLst/>
          </a:prstGeom>
          <a:solidFill>
            <a:srgbClr val="FCA5A5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42062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Yes → GPT-3.5-turbo API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583680" y="4206240"/>
            <a:ext cx="2103120" cy="457200"/>
          </a:xfrm>
          <a:prstGeom prst="rect">
            <a:avLst/>
          </a:prstGeom>
          <a:solidFill>
            <a:srgbClr val="86EFAC"/>
          </a:solidFill>
          <a:ln/>
        </p:spPr>
      </p:sp>
      <p:sp>
        <p:nvSpPr>
          <p:cNvPr id="34" name="Text 32"/>
          <p:cNvSpPr/>
          <p:nvPr/>
        </p:nvSpPr>
        <p:spPr>
          <a:xfrm>
            <a:off x="6675120" y="42062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 → Mistral (best balance)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548640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🎯 Mistral's Sweet Spot: Production workloads balancing quality, cost, privacy, and speed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0" y="64008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31/32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572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657600" cy="10972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⚡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2801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Efficiency Over Scale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7B parameters can compete with much larger models through architectural optimization (SWA, GQA)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645920"/>
            <a:ext cx="3657600" cy="10972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0" name="Shape 8"/>
          <p:cNvSpPr/>
          <p:nvPr/>
        </p:nvSpPr>
        <p:spPr>
          <a:xfrm>
            <a:off x="4754880" y="182880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🔧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949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Deployment Flexibility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394960" y="21031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Run anywhere: HuggingFace API, Ollama local, cloud instances, or edge devices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657600" cy="10972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28016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Open = Control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Open weights mean full transparency, customization, and no vendor lock-in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2926080"/>
            <a:ext cx="3657600" cy="10972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0" name="Shape 18"/>
          <p:cNvSpPr/>
          <p:nvPr/>
        </p:nvSpPr>
        <p:spPr>
          <a:xfrm>
            <a:off x="4754880" y="310896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39496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Use the Right Variant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394960" y="33832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Base for fine-tuning, Instruct for production, Embed for RAG, Mixtral for complex reasoning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206240"/>
            <a:ext cx="3657600" cy="10972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📚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8016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RAG &gt; Fine-tuning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8016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For most use cases, RAG with Mistral beats expensive fine-tuning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0" y="4206240"/>
            <a:ext cx="3657600" cy="109728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30" name="Shape 28"/>
          <p:cNvSpPr/>
          <p:nvPr/>
        </p:nvSpPr>
        <p:spPr>
          <a:xfrm>
            <a:off x="4754880" y="4389120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</a:rPr>
              <a:t>💰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394960" y="43434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</a:rPr>
              <a:t>Cost-Performance Leader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394960" y="46634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Best bang-for-buck in the 7B class for commercial applications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14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Shape 1"/>
          <p:cNvSpPr/>
          <p:nvPr/>
        </p:nvSpPr>
        <p:spPr>
          <a:xfrm>
            <a:off x="1371600" y="3200400"/>
            <a:ext cx="6400800" cy="2743200"/>
          </a:xfrm>
          <a:prstGeom prst="rect">
            <a:avLst/>
          </a:prstGeom>
          <a:solidFill>
            <a:srgbClr val="F7F9F9"/>
          </a:solidFill>
          <a:ln/>
        </p:spPr>
      </p:sp>
      <p:sp>
        <p:nvSpPr>
          <p:cNvPr id="4" name="Text 2"/>
          <p:cNvSpPr/>
          <p:nvPr/>
        </p:nvSpPr>
        <p:spPr>
          <a:xfrm>
            <a:off x="1554480" y="338328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</a:rPr>
              <a:t>📚 Resources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737360" y="3931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11680" y="3931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Mistral AI Docs: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3931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docs.mistral.ai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737360" y="42976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4297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Hugging Face Hub: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931920" y="4297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huggingface.co/mistralai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737360" y="46634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Ollama Docs: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3192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ollama.com/library/mistral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37360" y="502920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11680" y="5029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Research Paper: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931920" y="50292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arxiv.org/abs/2310.06825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37360" y="53949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011680" y="5394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</a:rPr>
              <a:t>Discord Community: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5394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discord.gg/mistralai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2C39A"/>
                </a:solidFill>
              </a:rPr>
              <a:t>Thank you!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2026-02-09T06:09:21Z</dcterms:created>
  <dcterms:modified xsi:type="dcterms:W3CDTF">2026-02-09T06:09:21Z</dcterms:modified>
</cp:coreProperties>
</file>