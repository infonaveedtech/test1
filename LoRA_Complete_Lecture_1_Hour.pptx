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 Fine-Tuning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MNLI</c:v>
                  </c:pt>
                  <c:pt idx="1">
                    <c:v>SST-2</c:v>
                  </c:pt>
                  <c:pt idx="2">
                    <c:v>WikiSQL</c:v>
                  </c:pt>
                  <c:pt idx="3">
                    <c:v>SAMSum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90.2</c:v>
                </c:pt>
                <c:pt idx="1">
                  <c:v>95.8</c:v>
                </c:pt>
                <c:pt idx="2">
                  <c:v>89.5</c:v>
                </c:pt>
                <c:pt idx="3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LoRA (r=8)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MNLI</c:v>
                  </c:pt>
                  <c:pt idx="1">
                    <c:v>SST-2</c:v>
                  </c:pt>
                  <c:pt idx="2">
                    <c:v>WikiSQL</c:v>
                  </c:pt>
                  <c:pt idx="3">
                    <c:v>SAMSum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95.6</c:v>
                </c:pt>
                <c:pt idx="2">
                  <c:v>89.7</c:v>
                </c:pt>
                <c:pt idx="3">
                  <c:v>52.3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LoRA: Low-Rank Adaptation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Deep Dive into Efficient Fine-Tuning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926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Fundamentals to Implementation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The Problem: Why Fine-Tuning is Expensive</a:t>
            </a:r>
            <a:pPr indent="0" marL="0">
              <a:buNone/>
            </a:pPr>
            <a:r>
              <a:rPr lang="en-US" sz="1400" i="1" dirty="0">
                <a:solidFill>
                  <a:srgbClr val="3B82F6"/>
                </a:solidFill>
              </a:rPr>
              <a:t>  (5 min)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Foundation: Understanding Matrix Rank</a:t>
            </a:r>
            <a:pPr indent="0" marL="0">
              <a:buNone/>
            </a:pPr>
            <a:r>
              <a:rPr lang="en-US" sz="1400" i="1" dirty="0">
                <a:solidFill>
                  <a:srgbClr val="3B82F6"/>
                </a:solidFill>
              </a:rPr>
              <a:t>  (10 min)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Core Concept: Low-Rank Decomposition</a:t>
            </a:r>
            <a:pPr indent="0" marL="0">
              <a:buNone/>
            </a:pPr>
            <a:r>
              <a:rPr lang="en-US" sz="1400" i="1" dirty="0">
                <a:solidFill>
                  <a:srgbClr val="3B82F6"/>
                </a:solidFill>
              </a:rPr>
              <a:t>  (10 min)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LoRA Architecture &amp; Mathematics</a:t>
            </a:r>
            <a:pPr indent="0" marL="0">
              <a:buNone/>
            </a:pPr>
            <a:r>
              <a:rPr lang="en-US" sz="1400" i="1" dirty="0">
                <a:solidFill>
                  <a:srgbClr val="3B82F6"/>
                </a:solidFill>
              </a:rPr>
              <a:t>  (10 min)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Implementation Details &amp; Best Practices</a:t>
            </a:r>
            <a:pPr indent="0" marL="0">
              <a:buNone/>
            </a:pPr>
            <a:r>
              <a:rPr lang="en-US" sz="1400" i="1" dirty="0">
                <a:solidFill>
                  <a:srgbClr val="3B82F6"/>
                </a:solidFill>
              </a:rPr>
              <a:t>  (10 min)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4389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Advanced Topics &amp; Variations</a:t>
            </a:r>
            <a:pPr indent="0" marL="0">
              <a:buNone/>
            </a:pPr>
            <a:r>
              <a:rPr lang="en-US" sz="1400" i="1" dirty="0">
                <a:solidFill>
                  <a:srgbClr val="3B82F6"/>
                </a:solidFill>
              </a:rPr>
              <a:t>  (10 min)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Fine-Tuning is Expensive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Fine-Tuning: Full Parameter Update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3"/>
          <p:cNvSpPr/>
          <p:nvPr/>
        </p:nvSpPr>
        <p:spPr>
          <a:xfrm>
            <a:off x="1371600" y="1920240"/>
            <a:ext cx="73152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1554480" y="1920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1. Start with pretrained model (billions of parameters)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371600" y="2514600"/>
            <a:ext cx="64008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Shape 6"/>
          <p:cNvSpPr/>
          <p:nvPr/>
        </p:nvSpPr>
        <p:spPr>
          <a:xfrm>
            <a:off x="1371600" y="2514600"/>
            <a:ext cx="73152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1554480" y="25146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2. Load entire model into GPU memory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9"/>
          <p:cNvSpPr/>
          <p:nvPr/>
        </p:nvSpPr>
        <p:spPr>
          <a:xfrm>
            <a:off x="1371600" y="3108960"/>
            <a:ext cx="73152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1554480" y="31089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3. Update ALL parameters during training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371600" y="3703320"/>
            <a:ext cx="64008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2"/>
          <p:cNvSpPr/>
          <p:nvPr/>
        </p:nvSpPr>
        <p:spPr>
          <a:xfrm>
            <a:off x="1371600" y="3703320"/>
            <a:ext cx="73152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1554480" y="3703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4. Save complete model copy for each task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⚠️ Result: Extremely expensive in memory, compute, and storage!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Breakdown: Real Numbers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GPT-3 Scale Model (175B parameters)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GPU Memory Required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2194560" cy="45720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~700 GB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0" y="1828800"/>
            <a:ext cx="2194560" cy="457200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~350 GB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256032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Training Speed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0" y="2468880"/>
            <a:ext cx="2194560" cy="45720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Baseline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2468880"/>
            <a:ext cx="2194560" cy="45720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~1.5× faster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256032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Storage per Task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0" y="3108960"/>
            <a:ext cx="2194560" cy="45720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700 GB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3108960"/>
            <a:ext cx="2194560" cy="45720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~1-10 MB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749040"/>
            <a:ext cx="256032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Deploy 100 Tasks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74720" y="3749040"/>
            <a:ext cx="2194560" cy="45720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70 TB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52160" y="3749040"/>
            <a:ext cx="2194560" cy="45720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700 GB + 1 GB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Full Fine-Tuning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5216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LoRA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with Full Fine-Tuning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13716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45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Memory Bottleneck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Cannot fit model + gradients + optimizer states on consumer GPUs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937760" y="1371600"/>
            <a:ext cx="3657600" cy="13716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459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Storage Explosion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212080" y="2011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Need full model copy for each task (100 tasks = 100× storage)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3017520"/>
            <a:ext cx="3657600" cy="13716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184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73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Slow Iteration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005840" y="3657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Training billions of parameters is slow, limiting experimentation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937760" y="3017520"/>
            <a:ext cx="3657600" cy="137160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29184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436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Catastrophic Forgetting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212080" y="36576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Model may forget pretrained knowledge while adapting to new task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Question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Do we </a:t>
            </a:r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really need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 to update </a:t>
            </a:r>
            <a:endParaRPr lang="en-US" sz="20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ALL 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parameters to adapt a model?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Foundation: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Matrix Rank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Weight Matrix Really Do?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Matrix W ∈ ℝd×d transforms input vectors: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y = W x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 </a:t>
            </a:r>
            <a:endParaRPr lang="en-US" sz="3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Input space:  ℝ</a:t>
            </a:r>
            <a:pPr algn="ctr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</a:rPr>
              <a:t>d</a:t>
            </a:r>
            <a:endParaRPr lang="en-US" sz="32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Output space: ℝ</a:t>
            </a:r>
            <a:pPr algn="ctr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</a:rPr>
              <a:t>d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914400" y="4297680"/>
            <a:ext cx="7315200" cy="640080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297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Think of W as a machine that mixes, rotates, scales, and projects information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Matrix Rank? (Intuitive)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= Number of independent directions a matrix can express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011680"/>
            <a:ext cx="9144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Rank = 1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  →  All vectors lie on one line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2743200"/>
            <a:ext cx="9144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Rank = 2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  →  Vectors span a plane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3474720"/>
            <a:ext cx="9144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474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Rank = 3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  →  Vectors span 3D space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4206240"/>
            <a:ext cx="9144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4206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Rank = 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→  Full expressive power in d-dimensions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= Information Capacity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2743200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If a matrix has rank </a:t>
            </a:r>
            <a:pPr algn="ctr" indent="0" marL="0">
              <a:buNone/>
            </a:pPr>
            <a:r>
              <a:rPr lang="en-US" sz="2000" b="1" i="1" dirty="0">
                <a:solidFill>
                  <a:srgbClr val="10B981"/>
                </a:solidFill>
              </a:rPr>
              <a:t>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No matter how large the matrix is,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it can only transform information along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r independent directions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2976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Full-Rank vs Low-Rank Update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Full Fine-Tuning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8288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ΔW ∈ ℝ</a:t>
            </a:r>
            <a:pPr algn="l" indent="0" marL="0">
              <a:buNone/>
            </a:pPr>
            <a:r>
              <a:rPr lang="en-US" sz="1200" baseline="30000" dirty="0">
                <a:solidFill>
                  <a:srgbClr val="1F2937"/>
                </a:solidFill>
              </a:rPr>
              <a:t>d×d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rank(ΔW) = 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✗ Changes every direction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✗ Maximum freedom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✗ Maximum cost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0" y="1188720"/>
            <a:ext cx="4114800" cy="3200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0" y="1188720"/>
            <a:ext cx="41148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LoRA Approach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25603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rank(ΔW) ≪ 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✓ Small subspace changes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✓ Task-specific adaptation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✓ Minimal parameters</a:t>
            </a:r>
            <a:endParaRPr lang="en-US" sz="16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 Nearly same performance!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Insight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914400" y="2834640"/>
            <a:ext cx="7315200" cy="13716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28346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Most downstream tasks only need to modify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the model along a </a:t>
            </a:r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small subspace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Numerical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say: d = 4096, r = 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Full Update Parameters: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4096 × 4096 ≈ 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16.7 Million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7315200" cy="1645920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7432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Low-Rank Factorization:  </a:t>
            </a:r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ΔW = BA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  where  A ∈ ℝ</a:t>
            </a:r>
            <a:pPr indent="0" marL="0">
              <a:buNone/>
            </a:pPr>
            <a:r>
              <a:rPr lang="en-US" sz="1100" baseline="30000" dirty="0">
                <a:solidFill>
                  <a:srgbClr val="1F2937"/>
                </a:solidFill>
              </a:rPr>
              <a:t>r×d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  and  B ∈ ℝ</a:t>
            </a:r>
            <a:pPr indent="0" marL="0">
              <a:buNone/>
            </a:pPr>
            <a:r>
              <a:rPr lang="en-US" sz="1100" baseline="30000" dirty="0">
                <a:solidFill>
                  <a:srgbClr val="1F2937"/>
                </a:solidFill>
              </a:rPr>
              <a:t>d×r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Total: 2rd = 2 × 8 × 4096 = </a:t>
            </a:r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65,536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4572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0624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From 16.7M → 65K parameters (255× reduction!)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Concept: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Low-Rank Decomposition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Factorization: The Core Idea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storing a large matrix, factor it into smaller pieces: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371600" y="2011680"/>
            <a:ext cx="2286000" cy="2286000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ΔW</a:t>
            </a:r>
            <a:endParaRPr lang="en-US" sz="3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 × d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8404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=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0" y="2468880"/>
            <a:ext cx="1097280" cy="228600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572000" y="2468880"/>
            <a:ext cx="1097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B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d × r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52160" y="3017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×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400800" y="2743200"/>
            <a:ext cx="1828800" cy="109728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A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 × d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3A8A"/>
                </a:solidFill>
              </a:rPr>
              <a:t>Key: r ≪ d (rank is much smaller than dimension)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This Work?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9144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Intrinsic Dimensionality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Most real-world data lives in a lower-dimensional manifold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86000"/>
            <a:ext cx="9144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2860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Task Similarity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Fine-tuning tasks are related to pretraining; only small adjustments needed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200400"/>
            <a:ext cx="9144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2004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Overparameterization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Neural networks have redundant parameters; not all directions matter equally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114800"/>
            <a:ext cx="9144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1148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Empirical Validation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Research shows rank 1-8 often works as well as full rank!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Intuition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Pretrained Model Location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The model sits at a good point in weight space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560320"/>
            <a:ext cx="2743200" cy="2011680"/>
          </a:xfrm>
          <a:prstGeom prst="ellipse">
            <a:avLst/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200400" y="30175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Low-dimensional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subspace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32004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3657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Pretrained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weights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3337560"/>
            <a:ext cx="365760" cy="27432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35204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3657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Fine-tuned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weights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47548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</a:rPr>
              <a:t>Fine-tuning does NOT jump to a new location 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</a:rPr>
              <a:t>it just moves slightly in a few directions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Architecture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Mathematics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LoRA Formula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1645920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</a:rPr>
              <a:t>h = W</a:t>
            </a:r>
            <a:pPr algn="ctr" indent="0" marL="0">
              <a:buNone/>
            </a:pPr>
            <a:r>
              <a:rPr lang="en-US" sz="1600" baseline="-40000" dirty="0">
                <a:solidFill>
                  <a:srgbClr val="1F2937"/>
                </a:solidFill>
              </a:rPr>
              <a:t>0</a:t>
            </a:r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</a:rPr>
              <a:t>x + ΔWx = W</a:t>
            </a:r>
            <a:pPr algn="ctr" indent="0" marL="0">
              <a:buNone/>
            </a:pPr>
            <a:r>
              <a:rPr lang="en-US" sz="1600" baseline="-40000" dirty="0">
                <a:solidFill>
                  <a:srgbClr val="1F2937"/>
                </a:solidFill>
              </a:rPr>
              <a:t>0</a:t>
            </a:r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</a:rPr>
              <a:t>x + </a:t>
            </a:r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BAx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where:</a:t>
            </a:r>
            <a:endParaRPr lang="en-US" sz="2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  W</a:t>
            </a:r>
            <a:pPr algn="ctr" indent="0" marL="0">
              <a:buNone/>
            </a:pPr>
            <a:r>
              <a:rPr lang="en-US" sz="1200" baseline="-40000" dirty="0">
                <a:solidFill>
                  <a:srgbClr val="1F2937"/>
                </a:solidFill>
              </a:rPr>
              <a:t>0</a:t>
            </a:r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 = pretrained weights (frozen)</a:t>
            </a:r>
            <a:endParaRPr lang="en-US" sz="2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  B, A = low-rank adaptation matrices (trainable)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1. Freeze W₀ → No memory for gradients of pretrained weights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4114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2. Only train B and A → Drastically fewer parameters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4480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3. Inject BA in parallel → Can be merged or removed after training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Initialization: Critical Detail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and B are initialized affects training: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1828800"/>
            <a:ext cx="7315200" cy="20116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18288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A: Initialized with random Gaussian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   (Similar to standard weight initialization)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B: Initialized to ZERO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   (So ΔW = BA = 0 at start)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Why? Start with pretrained model unchanged,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then gradually adapt during training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4023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✓ This ensures stable training from the pretrained model's quality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Factor α: Fine Control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1188720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</a:rPr>
              <a:t>h = W</a:t>
            </a:r>
            <a:pPr algn="ctr" indent="0" marL="0">
              <a:buNone/>
            </a:pPr>
            <a:r>
              <a:rPr lang="en-US" sz="1500" baseline="-40000" dirty="0">
                <a:solidFill>
                  <a:srgbClr val="1F2937"/>
                </a:solidFill>
              </a:rPr>
              <a:t>0</a:t>
            </a:r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</a:rPr>
              <a:t>x + </a:t>
            </a:r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(α / r)</a:t>
            </a:r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</a:rPr>
              <a:t> BAx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α = scaling hyperparameter (often α = r)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Purpose of α/r: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32918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Makes learning rate tuning rank-independent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794760"/>
            <a:ext cx="64008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379476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Controls adaptation strength vs pretrained knowledge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4297680"/>
            <a:ext cx="64008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42976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Typically set α = r for consistent behavior across ranks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Apply LoRA in Transformers?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layers have multiple weight matrices: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1920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W_q, W_k, W_v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  —  Query, Key, Value projections</a:t>
            </a:r>
            <a:endParaRPr lang="en-US" sz="15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10B981"/>
                </a:solidFill>
              </a:rPr>
              <a:t>✓ Most common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W_o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  —  Output projection</a:t>
            </a:r>
            <a:endParaRPr lang="en-US" sz="15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10B981"/>
                </a:solidFill>
              </a:rPr>
              <a:t>✓ Often included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200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W_up, W_down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  —  Feed-forward layers</a:t>
            </a:r>
            <a:endParaRPr lang="en-US" sz="15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3B82F6"/>
                </a:solidFill>
              </a:rPr>
              <a:t>Optional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840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Embedding layers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  —  Input embeddings</a:t>
            </a:r>
            <a:endParaRPr lang="en-US" sz="15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1F2937"/>
                </a:solidFill>
              </a:rPr>
              <a:t>Rarely used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💡 Default: Apply to Q and V matrices (good balance)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Merging Weights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inference, you can merge the adapter: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371600" y="1828800"/>
            <a:ext cx="6400800" cy="1097280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8288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</a:rPr>
              <a:t>W</a:t>
            </a:r>
            <a:pPr algn="ctr" indent="0" marL="0">
              <a:buNone/>
            </a:pPr>
            <a:r>
              <a:rPr lang="en-US" sz="1600" baseline="-40000" dirty="0">
                <a:solidFill>
                  <a:srgbClr val="1F2937"/>
                </a:solidFill>
              </a:rPr>
              <a:t>merged</a:t>
            </a:r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</a:rPr>
              <a:t> = W</a:t>
            </a:r>
            <a:pPr algn="ctr" indent="0" marL="0">
              <a:buNone/>
            </a:pPr>
            <a:r>
              <a:rPr lang="en-US" sz="1600" baseline="-40000" dirty="0">
                <a:solidFill>
                  <a:srgbClr val="1F2937"/>
                </a:solidFill>
              </a:rPr>
              <a:t>0</a:t>
            </a:r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</a:rPr>
              <a:t> + </a:t>
            </a:r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</a:rPr>
              <a:t>(α / r)</a:t>
            </a:r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 BA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Benefits: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✓ No inference overhead — same speed as original model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3977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✓ Can switch between tasks by swapping BA matrices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✓ Batching requests for different tasks becomes possible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Best Practices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Rank 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rank r controls the tradeoff between capacity and efficiency: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8872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92024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Use Case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63440" y="1828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Params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3504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Performance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2286000"/>
            <a:ext cx="704088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1-4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92024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Simple tasks, sentiment analysis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286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Minimal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~95-98%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2834640"/>
            <a:ext cx="704088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8-16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92024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General fine-tuning (recommended)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63440" y="2834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Low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3504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~98-99.5%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14400" y="3383280"/>
            <a:ext cx="704088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7"/>
          <p:cNvSpPr/>
          <p:nvPr/>
        </p:nvSpPr>
        <p:spPr>
          <a:xfrm>
            <a:off x="1188720" y="3383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32-64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92024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Complex domain adaptation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6344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Medium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35040" y="3383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~99.5-100%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14400" y="3931920"/>
            <a:ext cx="704088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2"/>
          <p:cNvSpPr/>
          <p:nvPr/>
        </p:nvSpPr>
        <p:spPr>
          <a:xfrm>
            <a:off x="1188720" y="3931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128+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92024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Rarely needed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663440" y="3931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High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03504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~100%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💡 Start with r=8, increase if needed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 Tips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Learning Rate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: 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1e-4 to 3e-4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Higher than full fine-tuning (fewer params to update)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731520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659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Batch Size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: 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Larger possible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Less memory needed, can use bigger batches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731520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517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Warmup Steps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: 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100-500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Short warmup is usually sufficient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337560"/>
            <a:ext cx="731520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3375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Weight Decay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: 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0.01-0.1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Regularize the adapter matrices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731520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0233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Epochs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: 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3-10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Converges faster than full fine-tuning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Savings: The Math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training, memory is needed for: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3657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Component                   Full FT                    LoRA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103120"/>
            <a:ext cx="32004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Model parameters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103120"/>
            <a:ext cx="1463040" cy="41148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1371600" cy="41148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031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✓ (frozen)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0" y="2606040"/>
            <a:ext cx="32004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2606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Gradients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606040"/>
            <a:ext cx="1463040" cy="41148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606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All params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606040"/>
            <a:ext cx="1371600" cy="41148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606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✓ Only B,A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3108960"/>
            <a:ext cx="32004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Optimizer states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1463040" cy="41148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108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All params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3108960"/>
            <a:ext cx="1371600" cy="41148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108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✓ Only B,A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3611880"/>
            <a:ext cx="320040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1554480" y="36118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Activations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3611880"/>
            <a:ext cx="1463040" cy="41148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611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3611880"/>
            <a:ext cx="1371600" cy="41148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371600" y="4297680"/>
            <a:ext cx="6400800" cy="64008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4297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Savings: 2-3× less memory for large models!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 to Avoid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9144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✗ Rank too high</a:t>
            </a:r>
            <a:endParaRPr lang="en-US" sz="15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Why: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Loses efficiency benefits, overfitting risk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 Fix: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Start with r=8, only increase if validation performance plateaus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768096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194560"/>
            <a:ext cx="9144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✗ Wrong learning rate</a:t>
            </a:r>
            <a:endParaRPr lang="en-US" sz="15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Why: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LoRA needs higher LR than full fine-tuning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 Fix: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Use 10× higher than standard (e.g., 3e-4 instead of 3e-5)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768096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108960"/>
            <a:ext cx="9144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1089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✗ Applying to all layers</a:t>
            </a:r>
            <a:endParaRPr lang="en-US" sz="15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Why: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Diminishing returns, more parameters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 Fix: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Focus on attention Q,V matrices first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768096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023360"/>
            <a:ext cx="9144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233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✗ Not freezing base model</a:t>
            </a:r>
            <a:endParaRPr lang="en-US" sz="15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</a:rPr>
              <a:t>Why: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Defeats the purpose of LoRA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✓ Fix: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Ensure requires_grad=False for W₀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Topics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Variations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Variations &amp; Extensions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7772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5270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37160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QLoRA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4-bit quantized base model + LoRA adapters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</a:rPr>
              <a:t>→ Fits 65B models on single GPU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14400" y="2286000"/>
            <a:ext cx="7315200" cy="7772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41448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28600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AdaLoRA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Adaptive rank allocation per layer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</a:rPr>
              <a:t>→ Automatically finds optimal rank distribution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914400" y="3200400"/>
            <a:ext cx="7315200" cy="7772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355848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28800" y="320040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LoRA+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Different learning rates for A and B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</a:rPr>
              <a:t>→ Faster convergence, better performance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914400" y="4114800"/>
            <a:ext cx="7315200" cy="77724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270248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28800" y="411480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DoRA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Decomposes weights into magnitude and direction</a:t>
            </a:r>
            <a:endParaRPr lang="en-US" sz="17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</a:rPr>
              <a:t>→ Better matches full fine-tuning performance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QLoRA: The Memory Champion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quantization with LoRA for extreme efficiency: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554480" y="182880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Key Innovation: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1. Quantize base model to 4-bit (NF4 format)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2. Keep LoRA adapters in full precision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3. Dequantize on-the-fly during forward pass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Result: Fine-tune 65B model on 48GB GPU!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371600" y="4297680"/>
            <a:ext cx="6400800" cy="5486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4297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Memory: ~75% reduction vs regular LoRA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Multi-Task Learning with LoRA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base model, multiple task-specific adapters: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200400" y="2011680"/>
            <a:ext cx="2743200" cy="731520"/>
          </a:xfrm>
          <a:prstGeom prst="rect">
            <a:avLst/>
          </a:prstGeom>
          <a:solidFill>
            <a:srgbClr val="1E3A8A">
              <a:alpha val="8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200400" y="2011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Base Model W₀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(Shared, Frozen)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2743200"/>
            <a:ext cx="0" cy="5486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3474720"/>
            <a:ext cx="2011680" cy="64008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Task 1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Translation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4206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B1A1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2743200"/>
            <a:ext cx="0" cy="5486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3474720"/>
            <a:ext cx="2011680" cy="64008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Task 2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Summarization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11880" y="4206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B2A2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2743200"/>
            <a:ext cx="0" cy="5486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3474720"/>
            <a:ext cx="2011680" cy="64008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3474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Task 3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Q&amp;A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72200" y="4206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B3A3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71600" y="4663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✓ Switch tasks by swapping adapter weights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 LoRA vs Full Fine-Tuning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results from the original LoRA paper: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645920"/>
          <a:ext cx="7315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 Near-identical performance with 0.1% of parameters!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Should You Use LoRA?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47472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Ideal For: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Resource-constrained environments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Multiple task adaptations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Quick experimentation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Models &gt; 1B parameters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0" y="1188720"/>
            <a:ext cx="3840480" cy="347472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Consider Alternatives When: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30352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Very different domain (pre-train first)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Small models &lt; 100M params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0352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Need absolute best performance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0352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Have unlimited compute budget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Workflow: Start to Finish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7280" y="12801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737360" y="1280160"/>
            <a:ext cx="64008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12801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Load pretrained model, freeze weights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8745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37360" y="1874520"/>
            <a:ext cx="64008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8745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Add LoRA layers (r=8, α=8) to Q,V matrices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4688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737360" y="2468880"/>
            <a:ext cx="64008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24688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Train on task data with LR=3e-4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30632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737360" y="3063240"/>
            <a:ext cx="64008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1920240" y="3063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Evaluate on validation set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36576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737360" y="3657600"/>
            <a:ext cx="64008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1920240" y="36576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If needed, increase r and retrain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42519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737360" y="4251960"/>
            <a:ext cx="6400800" cy="4572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1920240" y="42519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Merge weights for deployment or save adapters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Libraries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37160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Hugging Face PEFT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Official LoRA implementation for Transformers</a:t>
            </a:r>
            <a:endParaRPr lang="en-US" sz="17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</a:rPr>
              <a:t>github.com/huggingface/peft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14400" y="2240280"/>
            <a:ext cx="7315200" cy="73152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3774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2402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bitsandbytes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For QLoRA (4-bit quantization)</a:t>
            </a:r>
            <a:endParaRPr lang="en-US" sz="17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</a:rPr>
              <a:t>github.com/TimDettmers/bitsandbytes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2461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28800" y="310896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LLaMA-Factory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Easy fine-tuning framework with LoRA support</a:t>
            </a:r>
            <a:endParaRPr lang="en-US" sz="17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</a:rPr>
              <a:t>github.com/hiyouga/LLaMA-Factory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914400" y="3977640"/>
            <a:ext cx="7315200" cy="73152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11480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28800" y="397764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</a:rPr>
              <a:t>Axolotl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Training framework with LoRA presets</a:t>
            </a:r>
            <a:endParaRPr lang="en-US" sz="17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</a:rPr>
              <a:t>github.com/OpenAccess-AI-Collective/axolotl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371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LoRA enables efficient fine-tuning via low-rank matrix decomposition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1920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Reduces trainable parameters by 100-1000× with minimal performance loss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888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Works by freezing base model and training small adapter matrices B, A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1752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63040" y="3017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Rank r controls tradeoff: start with r=8 for most tasks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56616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63040" y="3566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Can merge adapters for deployment or swap them for multi-task serving</a:t>
            </a:r>
            <a:endParaRPr lang="en-US" sz="15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14800"/>
            <a:ext cx="365760" cy="36576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63040" y="4114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QLoRA combines with quantization for even greater efficiency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B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is Efficient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371600" y="3017520"/>
            <a:ext cx="6400800" cy="13716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371600" y="3017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LoRA democratizes LLM fine-tuning,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making powerful models accessible to everyone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with minimal resources.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017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LoRA: Complete Deep Dive - 1 Hour Lecture</dc:title>
  <dc:subject>PptxGenJS Presentation</dc:subject>
  <dc:creator>LoRA Complete Tutorial</dc:creator>
  <cp:lastModifiedBy>LoRA Complete Tutorial</cp:lastModifiedBy>
  <cp:revision>1</cp:revision>
  <dcterms:created xsi:type="dcterms:W3CDTF">2026-02-03T12:19:45Z</dcterms:created>
  <dcterms:modified xsi:type="dcterms:W3CDTF">2026-02-03T12:19:45Z</dcterms:modified>
</cp:coreProperties>
</file>