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the 60-minute technical deep dive into Mistral AI 3.2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eight sections covering theory to deployment with timing for each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 AI is a European company focused on efficient, deployable LLMs with an open-weights philosophy.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value propositions: open weights for transparency, European alternative for GDPR, production-ready with commercial licensing, and cost-effective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models predict the next token based on probability distributions learned from training data, without true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how models assign probabilities to potential next tokens, choosing the most likely based on training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Transformers use self-attention to determine which previous tokens matter most for prediction, the key architectural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models offer faster inference, lower costs, easier deployment, and better privacy compared to large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 3.2 Small has 7.3B parameters with sliding window attention, 32k context length, and was released in November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Sliding window attention limits each token to attending only the previous 4,096 tokens, reducing memory usage while maintaining long-range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GQA reduces memory usage by 50% by sharing Key and Value matrices across attention heads while maintaining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 excels at reasoning and coding with fast inference, but is weaker than GPT-4 at creative tasks and lacks vision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Hugging Face is the central hub for ML models with 500k+ models, the Transformers library, and free inference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Transformers library provides simple API to load and run Mistral models with automatic GPU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Inference API provides serverless access to Mistral models with a free tier and automatic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provides a Docker-like experience for running LLMs locally with one-command setup and REST API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Ollama with one command, pull the model, and run it interactively or as an API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provides two main endpoints: /api/generate for single completions and /api/chat for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is ideal for privacy-sensitive and offline use cases, but not for production scale or when absolute best quality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 offers five model variants: Base for fine-tuning, Instruct for production, Embed for RAG, and Mixtral models for complex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models predict next tokens without instruction following, while Instruct models are fine-tuned to follow prompts reliably for production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Mistral-Instruct uses special chat template formatting and supports function calling, code generation, structured output, and multilingual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Mistral-Embed converts text to 1024-dimensional vectors for semantic search and RAG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Mixtral uses a mixture-of-experts architecture where only 2 of 8 experts activate per token, providing GPT-3.5 quality at lower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 can handle four main task categories: classification, generation, question answering, and information 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combines document retrieval with generation to provide up-to-date, grounded answers without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Mistral-Instruct provides zero-shot sentiment analysis with context understanding and specific complaint extraction without requiring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Mistral achieves 87% accuracy at 15 reviews/sec with structured JSON output including sentiment, confidence, and key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models like Mistral offer transparency and control at the cost of setup, while closed models like GPT-4 offer better quality but with vendor lock-in.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decision tree to determine when Mistral is the best choice versus GPT-4, Claude, or other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insights: efficiency beats scale, deployment flexibility, open-source benefits, variant selection, RAG advantages, and cost-performance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 and share the five key resource links for further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Mistral AI 3.2 Small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</a:rPr>
              <a:t>Architecture, Deployment &amp;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9F9"/>
                </a:solidFill>
              </a:rPr>
              <a:t>Technical Consultation —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Mistral AI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Language Models 101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8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Mistral 3.2 Small Deep Dive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12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Deployment via Hugging Face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154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8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Local Deployment with Ollama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8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Model Variants &amp; Use Cases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10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4663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Applications &amp; Examples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7 min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1663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5166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Open vs Closed Models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0" y="5166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2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What is Mistral AI?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COMPANY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1700" dirty="0">
                <a:solidFill>
                  <a:srgbClr val="1A1A1A"/>
                </a:solidFill>
              </a:rPr>
              <a:t>• European AI company (Paris, founded 2023)</a:t>
            </a:r>
            <a:endParaRPr lang="en-US" sz="1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1700" dirty="0">
                <a:solidFill>
                  <a:srgbClr val="1A1A1A"/>
                </a:solidFill>
              </a:rPr>
              <a:t>• Focus: Efficient, deployable LLMs</a:t>
            </a:r>
            <a:endParaRPr lang="en-US" sz="1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1700" dirty="0">
                <a:solidFill>
                  <a:srgbClr val="1A1A1A"/>
                </a:solidFill>
              </a:rPr>
              <a:t>• Open-weights philosophy</a:t>
            </a:r>
            <a:endParaRPr lang="en-US" sz="1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1700" dirty="0">
                <a:solidFill>
                  <a:srgbClr val="1A1A1A"/>
                </a:solidFill>
              </a:rPr>
              <a:t>• Alternative to OpenAI/Anthropic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Philosophy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24688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Best performance per compute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Not biggest, but most practical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Efficiency &gt; Scale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Why Mistral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17373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Open Weights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Full model transparency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No vendor lock-in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657600" cy="17373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9202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European Alternative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Data sovereignty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GDPR compliance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3657600" cy="17373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Production-Ready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Optimized for deployment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Commercial licensing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3657600" cy="17373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3931920"/>
            <a:ext cx="411480" cy="411480"/>
          </a:xfrm>
          <a:prstGeom prst="ellipse">
            <a:avLst/>
          </a:prstGeom>
          <a:solidFill>
            <a:srgbClr val="0140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Cost-Effective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Run on modest hardware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Predictable costs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What is a Language Model?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P(next token | previous tokens)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Predicts next token based on learned probability distributions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Trained on massive text corpora to learn language patterns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Does not 'understand' or 'think' — generates based on statistics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Token: smallest unit (word, subword, or character)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How Token Prediction 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Example: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88720" cy="50292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The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828800"/>
            <a:ext cx="1188720" cy="50292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cat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1828800"/>
            <a:ext cx="1188720" cy="50292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1188720" cy="50292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77840" y="1828800"/>
            <a:ext cx="1188720" cy="50292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the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1188720" cy="502920"/>
          </a:xfrm>
          <a:prstGeom prst="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___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Top Predictions: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45920" y="3017520"/>
            <a:ext cx="2496312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33672" y="30175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42%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45920" y="3429000"/>
            <a:ext cx="1664208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floor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1568" y="34290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28%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0" y="3840480"/>
            <a:ext cx="8915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40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chair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28900" y="38404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15%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645920" y="4251960"/>
            <a:ext cx="59436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51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31720" y="42519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10%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45920" y="4663440"/>
            <a:ext cx="2971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63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other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34540" y="46634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5%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Transformer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The foundation of modern LLMs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2560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Text to Tokens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331720"/>
            <a:ext cx="0" cy="13716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560320"/>
            <a:ext cx="2560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Embedding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Tokens to Vectors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154680"/>
            <a:ext cx="0" cy="13716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3383280"/>
            <a:ext cx="256032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Self-Attention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Context weighting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977640"/>
            <a:ext cx="0" cy="13716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06240"/>
            <a:ext cx="2560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Feed-Forward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572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Transformation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4800600"/>
            <a:ext cx="0" cy="13716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5029200"/>
            <a:ext cx="2560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120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949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Probability dist.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2560320"/>
            <a:ext cx="4297680" cy="2743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Self-Attention = Key Innovation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32004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Determines which input tokens are most relevant for predicting the next token.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Example: In 'The cat sat on the mat', predicting 'mat' requires attending to 'sat' and 'on'.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Why 'Small' Models Matter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03120" cy="438912"/>
          </a:xfrm>
          <a:prstGeom prst="rect">
            <a:avLst/>
          </a:prstGeom>
          <a:solidFill>
            <a:srgbClr val="01403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26517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645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7B Parameters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645920"/>
            <a:ext cx="265176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645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175B Parameters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103120" cy="43891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848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Inference Speed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08483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Fast (&lt; 1s)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08483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Slow (2-10s)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103120" cy="43891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23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Hardware Req.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523744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5237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16GB VRAM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2523744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5237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8x A100 GPUs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62656"/>
            <a:ext cx="2103120" cy="43891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626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Cost/1M tokens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296265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9626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$0.10 - $0.50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296265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9626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$10 - $60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2103120" cy="43891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015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Latency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340156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4015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12080" y="340156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4015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High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2103120" cy="43891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0" y="384048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3840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Edge/Local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212080" y="384048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840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Cloud only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279392"/>
            <a:ext cx="2103120" cy="43891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793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Privacy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60320" y="427939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42793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Full control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212080" y="427939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42793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API dependency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Small models enable real-time, cost-effective AI at the edge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Mistral 3.2 Small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Technical Specifications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3852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Parameters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~7.3 Billion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93852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Decoder-only Transformer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944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44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Context Length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32,768 tokens (32k)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944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44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Vocabulary Size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32,000 tokens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9502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Attention Type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Sliding Window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0" y="374904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9502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Released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November 2024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Sliding Window Attention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Mistral's key optimization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00584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</a:rPr>
              <a:t>Traditional Attention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Every token attends to all previous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O(n²) complexity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Memory explosion at scale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10058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Mistral's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Each token attends only to previous 4,096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Fixed memory footprint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Maintains long-range understanding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Visual: Attention Window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36776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6352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9544" y="3291840"/>
            <a:ext cx="347472" cy="347472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2736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95928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68696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2918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8076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Current token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45536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Attention window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Benefits: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46177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4x faster inference than full attention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49377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Enables 32k context on consumer GPUs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52578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Minimal quality degradation vs full attention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Grouped Query Attention (GQA)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Memory optimization technique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Standard Multi-Head Attention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14630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Each head has its own: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Query matrix (Q)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Key matrix (K)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Value matrix (V)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Memory: High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Quality: Excellent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Grouped Query Attention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4114800" cy="14630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0116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Multiple heads share: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Same Key matrix (K)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Same Value matrix (V)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Individual Query (Q)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Memory: 50% reduction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Quality: Near-identical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Real-World Impact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Mistral 7B with GQA runs on 16GB GPU | Without GQA requires 32GB GPU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Enables deployment on consumer hardware (RTX 4090, M2 MacBooks)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Strengths &amp; Limitations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Strengths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Excellent reasoning for size 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Fast inference (10-50 tokens/sec)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Strong coding capabilities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Multilingual (5 languages)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Function calling support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Commercial-friendly license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114800" cy="4114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Not state-of-the-art (loses to GPT-4, Claude)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267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Limited world knowledge vs larger 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615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Occasional hallucinations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Weaker at complex creative writing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310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Requires prompt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No vision capabilities (text-only)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8229600" cy="7315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937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Sweet Spot: Production workloads where speed, cost, and privacy matter more than absolute SOTA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Hugging Face Ecosystem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0" cy="1645920"/>
          </a:xfrm>
          <a:prstGeom prst="rect">
            <a:avLst/>
          </a:prstGeom>
          <a:solidFill>
            <a:srgbClr val="FFD2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403A"/>
                </a:solidFill>
              </a:rPr>
              <a:t>HF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560320" y="15544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The GitHub for Machine Learning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0" y="210312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Model Hub: 500,000+ open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4231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Transformers library: Industry standard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7432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Datasets: Pre-processed training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0632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Spaces: Model demos &amp; apps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3832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Free GPU inference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Mistral Models on Hugging Face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mistralai/Mistral-7B-v0.3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4206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Base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mistralai/Mistral-7B-Instruct-v0.3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4526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Chat/instruction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mistralai/Mistral-Embed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4846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Embedding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166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mistralai/Mixtral-8x7B-Instruct-v0.1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5166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Mixture of Experts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Using Mistral via Transformers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transformers torch accelerate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Basic Usage: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AutoModelForCausalLM, AutoTokenizer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"mistralai/Mistral-7B-Instruct-v0.3"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AutoTokenizer.from_pretrained(model_id)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AutoModelForCausalLM.from_pretrained(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model_id, device_map="auto", torch_dtype="auto"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"Explain quantum computing in simple terms"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tokenizer(prompt, return_tensors="pt").to("cuda")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model.generate(**inputs, max_new_tokens=256)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print(tokenizer.decode(outputs[0], skip_special_tokens=True))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15/32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Hugging Face Inference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No local setup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556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19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Serverless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GPU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7556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719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Free Tier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Rate-limited but functional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072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07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Auto Scaling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Handles traffic spikes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606040"/>
            <a:ext cx="3657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8072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807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API Tokens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Secure authentication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Python Example: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97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 = "https://api-inference.huggingface.co/models/mistralai/Mistral-7B-Instruct-v0.3"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{"Authorization": f"Bearer {API_TOKEN}"}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requests.post(API_URL, headers=headers, json={"inputs": "Explain AI"})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16/32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What is Ollama?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Local LLM runtime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Run powerful language models locally with a single command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One-Command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install or brew install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8346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8346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Docker-Like UX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mistral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REST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50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OpenAI-compatible HTTP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6576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GPU Acceleration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950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Auto-detects CUDA/Metal/ROCm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Model Library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773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100+ pre-configured models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4805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44805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Context Management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4773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conversations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17/32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Running Mistral with Ollama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Install Ollama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847088"/>
            <a:ext cx="76809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928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One-line installer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Download Mistral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2898648"/>
            <a:ext cx="76809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4436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mistral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31927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Downloads ~4.1GB quantized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Run Interactive Chat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3950208"/>
            <a:ext cx="76809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99592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mistral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37083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Starts local chat in terminal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70916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API Server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05840" y="5001768"/>
            <a:ext cx="76809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504748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542239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Runs on http://localhost:11434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18/32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Ollama REST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OpenAI-compatible interface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URL: http://localhost:11434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/api/generate - Single completion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http://localhost:11434/api/generate -d '{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"mistral",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"prompt": "Why is the sky blue?",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"stream":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/api/chat - Conversation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http://localhost:11434/api/chat -d '{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"mistral",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"system", "content": "You are a helpful assistant"},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 "content": "Explain transformers"}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19/32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When to Use Ollama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Ideal For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Privacy-sensitive applications (healthcare, legal, finance)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21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Offline/airgapped environments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9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Internal dev tools (code review, documentation)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169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Rapid prototyping without API costs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Edge deployments (on-premise servers)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Educational/research purposes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114800" cy="38404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716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Not Ideal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Production at scale (use hosted APIs)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221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Resource-constrained devices (&lt; 8GB RAM)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Absolute best quality needed (use GPT-4/Claude)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Multimodal tasks (vision, audio)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264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Guaranteed SLAs/uptime requirements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Zero-latency requirements (&lt; 100ms)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Minimum Hardware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5166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CPU: 4+ cores | RAM: 8GB (16GB recommended) | GPU: Optional but 5-10x faster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Mistral Model Family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Official variants and their purposes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0140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554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HF 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Mistral 7B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7.3B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Pre-training, fine-tuning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Fast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Mistral-7B-v0.3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Mistral 7B Instruct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468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7.3B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Chat, tasks, Q&amp;A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Fast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Mistral-7B-Instruct-v0.3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Mistral Embed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2926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7.3B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Embeddings, RAG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Very Fast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Mistral-Embed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Mixtral 8x7B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46.7B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Complex reasoning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Medium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Mixtral-8x7B-Instruct-v0.1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Mixtral 8x22B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3840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141B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SOTA performance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Slow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Mixtral-8x22B-Instruct-v0.1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21/32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Base vs Instruct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Understanding the difference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Mistral 7B 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Pure next-token prediction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No instruction following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437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Raw pre-trained weights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Requires fine-tuning for tasks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38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Used for: Custom fine-tuning, research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Mistral 7B Instruct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Fine-tuned on instructions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96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Follows prompts reliably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843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Safer, more aligned outputs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191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Ready for production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538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Used for: Chatbots, agents, apps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Example Prompt: 'Summarize this article'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384048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</a:rPr>
              <a:t>Base: Continues text instead of summarizing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4572000"/>
            <a:ext cx="4114800" cy="6858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663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F46"/>
                </a:solidFill>
              </a:rPr>
              <a:t>Instruct: Provides actual summary as requested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22/32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Mistral-Instruct Deep Dive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Chat Template Format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[INST] You are a helpful assistant [/INST]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[INST] Explain neural networks in 2 sentences [/INST]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 networks are computational models inspired by...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Key Capabilities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Function Calling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7216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JSON-formatted tool 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4290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4290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Code Generation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7216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Python, JS, SQL,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Structured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4531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JSON, YAML, Markdown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1605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1605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Multi-turn Chat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44531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Context retention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89204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Safety Filtering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518464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Reduced harmful outputs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4892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20640" y="489204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Multilingual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518464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23/32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Mistral-Embed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Embedding model for semantic search &amp; RAG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680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Embeddings = Dense vector representations of 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Similar meanings → Similar vectors (measured by cosine similarity)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Example: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"Dog"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926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[0.23, -0.45, 0.67, ...]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926080"/>
            <a:ext cx="1280160" cy="2560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926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Sim: 0.89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[0.19, -0.41, 0.71, ...]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291840"/>
            <a:ext cx="1280160" cy="2560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291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Sim: 0.89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657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[-0.52, 0.33, -0.18, ...]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657600"/>
            <a:ext cx="1280160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657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Sim: 0.12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Primary Use Cases: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Semantic search (find similar documents)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Retrieval-Augmented Generation (RAG)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065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Clustering &amp; classification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3583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Duplicate detection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4114800"/>
            <a:ext cx="3200400" cy="12801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4297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Specifications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4617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Dim: 1024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Max tokens: 8192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Speed: 500 docs/sec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HF: Mistral-Embed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24/32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Mixtral: Mixture of Experts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Mistral's flagship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 Experts × 7B Parameters = 46.7B Total (Only 12.9B active per token)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468880" cy="6400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4495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Router Network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192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Selects top-2 experts per token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246120"/>
            <a:ext cx="274320" cy="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00400" y="3794760"/>
            <a:ext cx="2468880" cy="6400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91363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Expert 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41879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Only 2/8 experts activate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4114800"/>
            <a:ext cx="274320" cy="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4663440"/>
            <a:ext cx="2468880" cy="6400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478231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Result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50566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GPT-3.5 quality at 5x lower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Mixtral Variants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897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Mixtral 8x7B: Standard (46.7B params)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Mixtral 8x22B: Large (141B params, SOTA performance)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25/32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Downstream Tasks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What you can build with Mistral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16916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Text Classification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Sentiment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Topic classification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369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Intent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83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Spam filtering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3657600" cy="16916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8745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Text Generation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Content creation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900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Code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369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Summarization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83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Translation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3657600" cy="16916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Question Answering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Chatbots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9103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Customer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1572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Documentation Q&amp;A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404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RAG systems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566160"/>
            <a:ext cx="3657600" cy="16916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3794760"/>
            <a:ext cx="411480" cy="411480"/>
          </a:xfrm>
          <a:prstGeom prst="ellipse">
            <a:avLst/>
          </a:prstGeom>
          <a:solidFill>
            <a:srgbClr val="0140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46320" y="4343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Information Extraction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46320" y="46634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Named entity recognition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9103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Relation extraction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51572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Data parsing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5404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Form filling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26/32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Retrieval-Augmented Generation (RAG)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Most common enterprise use 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Document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7393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Chunk &amp; embed documents using Mistral-Embed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Vector Storage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1401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Store embeddings in Pinecone/Weaviate/ChromaDB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260604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Query 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5409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Embed user question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34747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Retrieval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Find top-K similar chunks (cosine similarity)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88620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Augmentation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3425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Inject retrieved context into prompt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452628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" y="47548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4754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Generation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97433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Mistral-Instruct generates answer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1554480"/>
            <a:ext cx="3657600" cy="23774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Why RAG?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12080" y="2103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Up-to-date information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4231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Reduce hallucinations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2743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Domain-specific knowledge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3063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Citation/source tracking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3383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No model fine-tuning needed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27/32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Application: Sentiment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Business Problem: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Analyze 10,000 customer reviews to identify satisfaction trends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17373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Traditional 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Requires labeled training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Feature engineering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Limited context understanding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Misses sarcasm/nuance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Needs model retraining for new domains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4114800" cy="17373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Mistral-Instruct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• Zero-shot 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• Understands context &amp; nuance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• Handles sarcasm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• Extracts specific complaints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• Works across domains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Implementation: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634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f"""Analyze sentiment: {review}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JSON: {{"sentiment": "positive/negative/neutral", "confidence": 0-1, "key_issues": []}}"""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model.generate(prompt)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28/32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Sentiment Analysis: 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Sample Output: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"Product is okay but shipping was terrible"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Negative (0.72)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["shipping delay"]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"Absolutely love it! Best purchase ever!"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78892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Positive (0.95)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[]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"It works as expected, nothing special"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Neutral (0.88)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[]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7772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Performance Metrics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Accuracy: 87% | Speed: 15 reviews/sec | Cost: $0.30 per 10K reviews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29/32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Open vs Closed Source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475488"/>
          </a:xfrm>
          <a:prstGeom prst="rect">
            <a:avLst/>
          </a:prstGeom>
          <a:solidFill>
            <a:srgbClr val="0140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463040"/>
            <a:ext cx="256032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4630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(Mistral)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3566160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4630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Closed (GPT-4, Claude)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3852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Transparency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193852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3852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Full model weights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93852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9385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Black box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256032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1401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Data Privacy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2414016"/>
            <a:ext cx="256032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41401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Runs locally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414016"/>
            <a:ext cx="356616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41401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API sends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8950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8950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Customization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288950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88950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Fine-tune freely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889504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88950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Limited/expensive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64992"/>
            <a:ext cx="256032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649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17520" y="3364992"/>
            <a:ext cx="256032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3649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Predictable (compute)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364992"/>
            <a:ext cx="356616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3649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Per-token pricing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8404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Quality (SOTA)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17520" y="384048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8404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Close but not best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84048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8404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GPT-4, Claude lead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315968"/>
            <a:ext cx="256032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3159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Ease of Use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017520" y="4315968"/>
            <a:ext cx="256032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43159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Setup required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4315968"/>
            <a:ext cx="3566160" cy="475488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3159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API call ready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79145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7914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Vendor Lock-in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17520" y="479145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47914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None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479145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47914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Dependent on provider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30/32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Decision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When to choose Mistral vs alternatives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Do you need absolute SOTA quality?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1828800" cy="41148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Yes: GPT-4 / Claude Opus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2103120" cy="41148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No: Continue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931920" cy="4114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Is data privacy critical?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103120"/>
            <a:ext cx="1828800" cy="41148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Yes: Mistral (local)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103120"/>
            <a:ext cx="2103120" cy="41148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No: Continue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931920" cy="4114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51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Need multimodal (vision/audio)?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651760"/>
            <a:ext cx="1828800" cy="41148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Yes: GPT-4V / Gemini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651760"/>
            <a:ext cx="2103120" cy="41148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No: Continue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931920" cy="4114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Budget &lt; $1000/month?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1828800" cy="41148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Yes: Mistral (self-host)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200400"/>
            <a:ext cx="2103120" cy="41148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No: Continue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3931920" cy="4114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49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Need real-time (&lt; 100ms)?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749040"/>
            <a:ext cx="1828800" cy="41148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Yes: GPT-3.5-turbo 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3749040"/>
            <a:ext cx="2103120" cy="41148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No: Mistral (best balance)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029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Mistral's Sweet Spot: Production workloads balancing quality, cost, privacy, and speed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31/32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0058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7335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Efficiency Over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7B parameters can compete with larger models through architectural optimization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3657600" cy="10058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7190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67335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Deployment Flexibility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Run anywhere: HuggingFace API, Ollama local, cloud, or edge devices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0" cy="10058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90779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Open =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Open weights mean full transparency, customization, and no vendor lock-in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657600" cy="10058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90779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8620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Use the Right Variant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Base for fine-tuning, Instruct for production, Embed for RAG, Mixtral for reasoning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3657600" cy="10058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09651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05079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RAG &gt; Fine-tuning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For most use cases, RAG with Mistral beats expensive fine-tuning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3657600" cy="10058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409651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405079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Cost-Performance Leader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Best bang-for-buck in the 7B class for commercial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71600" y="3108960"/>
            <a:ext cx="6400800" cy="25603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3291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• Mistral AI Docs: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docs.mistral.ai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4087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• Hugging Face Hub: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huggingface.co/mistralai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44256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• Ollama Docs: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4425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ollama.com/library/mistral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4764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• Research Paper: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47640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arxiv.org/abs/2310.06825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5102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• Discord Community: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5102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discord.gg/mistralai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2026-02-09T06:23:49Z</dcterms:created>
  <dcterms:modified xsi:type="dcterms:W3CDTF">2026-02-09T06:23:49Z</dcterms:modified>
</cp:coreProperties>
</file>